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1" r:id="rId1"/>
  </p:sldMasterIdLst>
  <p:notesMasterIdLst>
    <p:notesMasterId r:id="rId34"/>
  </p:notesMasterIdLst>
  <p:handoutMasterIdLst>
    <p:handoutMasterId r:id="rId35"/>
  </p:handoutMasterIdLst>
  <p:sldIdLst>
    <p:sldId id="256" r:id="rId2"/>
    <p:sldId id="259" r:id="rId3"/>
    <p:sldId id="265" r:id="rId4"/>
    <p:sldId id="368" r:id="rId5"/>
    <p:sldId id="261" r:id="rId6"/>
    <p:sldId id="369" r:id="rId7"/>
    <p:sldId id="370" r:id="rId8"/>
    <p:sldId id="372" r:id="rId9"/>
    <p:sldId id="373" r:id="rId10"/>
    <p:sldId id="396" r:id="rId11"/>
    <p:sldId id="397" r:id="rId12"/>
    <p:sldId id="371" r:id="rId13"/>
    <p:sldId id="375" r:id="rId14"/>
    <p:sldId id="376" r:id="rId15"/>
    <p:sldId id="377" r:id="rId16"/>
    <p:sldId id="378" r:id="rId17"/>
    <p:sldId id="379" r:id="rId18"/>
    <p:sldId id="380" r:id="rId19"/>
    <p:sldId id="382" r:id="rId20"/>
    <p:sldId id="381" r:id="rId21"/>
    <p:sldId id="383" r:id="rId22"/>
    <p:sldId id="384" r:id="rId23"/>
    <p:sldId id="385" r:id="rId24"/>
    <p:sldId id="387" r:id="rId25"/>
    <p:sldId id="389" r:id="rId26"/>
    <p:sldId id="391" r:id="rId27"/>
    <p:sldId id="390" r:id="rId28"/>
    <p:sldId id="392" r:id="rId29"/>
    <p:sldId id="393" r:id="rId30"/>
    <p:sldId id="394" r:id="rId31"/>
    <p:sldId id="277" r:id="rId32"/>
    <p:sldId id="263" r:id="rId33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Ferreira" initials="MF" lastIdx="1" clrIdx="0">
    <p:extLst>
      <p:ext uri="{19B8F6BF-5375-455C-9EA6-DF929625EA0E}">
        <p15:presenceInfo xmlns:p15="http://schemas.microsoft.com/office/powerpoint/2012/main" userId="e0b09408cab8383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784" autoAdjust="0"/>
    <p:restoredTop sz="91461" autoAdjust="0"/>
  </p:normalViewPr>
  <p:slideViewPr>
    <p:cSldViewPr>
      <p:cViewPr varScale="1">
        <p:scale>
          <a:sx n="74" d="100"/>
          <a:sy n="74" d="100"/>
        </p:scale>
        <p:origin x="108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0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B3D810C-1C4F-4DA4-AEDD-754ECD0FF1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7" tIns="49535" rIns="99067" bIns="49535" numCol="1" anchor="t" anchorCtr="0" compatLnSpc="1">
            <a:prstTxWarp prst="textNoShape">
              <a:avLst/>
            </a:prstTxWarp>
          </a:bodyPr>
          <a:lstStyle>
            <a:lvl1pPr defTabSz="990650" eaLnBrk="0" hangingPunct="0">
              <a:defRPr kumimoji="1" sz="1300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0B7DECD-6DB9-414E-933F-5790FD89054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7" tIns="49535" rIns="99067" bIns="49535" numCol="1" anchor="t" anchorCtr="0" compatLnSpc="1">
            <a:prstTxWarp prst="textNoShape">
              <a:avLst/>
            </a:prstTxWarp>
          </a:bodyPr>
          <a:lstStyle>
            <a:lvl1pPr algn="r" defTabSz="990650" eaLnBrk="0" hangingPunct="0">
              <a:defRPr kumimoji="1" sz="1300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D9085F91-5F28-445D-B1B2-90368A5BAD4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7" tIns="49535" rIns="99067" bIns="49535" numCol="1" anchor="b" anchorCtr="0" compatLnSpc="1">
            <a:prstTxWarp prst="textNoShape">
              <a:avLst/>
            </a:prstTxWarp>
          </a:bodyPr>
          <a:lstStyle>
            <a:lvl1pPr defTabSz="990650" eaLnBrk="0" hangingPunct="0">
              <a:defRPr kumimoji="1" sz="1300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7515F835-6EB0-4484-8C62-7AD2F0A8C16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81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67" tIns="49535" rIns="99067" bIns="49535" numCol="1" anchor="b" anchorCtr="0" compatLnSpc="1">
            <a:prstTxWarp prst="textNoShape">
              <a:avLst/>
            </a:prstTxWarp>
          </a:bodyPr>
          <a:lstStyle>
            <a:lvl1pPr algn="r" defTabSz="990600" eaLnBrk="0" hangingPunct="0">
              <a:defRPr kumimoji="1" sz="130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508AFDE2-B86D-4E08-BA9F-4A1ABFD1370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72108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74DED06-D5FF-449D-B74C-E8D401237B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639" tIns="0" rIns="20639" bIns="0" numCol="1" anchor="t" anchorCtr="0" compatLnSpc="1">
            <a:prstTxWarp prst="textNoShape">
              <a:avLst/>
            </a:prstTxWarp>
          </a:bodyPr>
          <a:lstStyle>
            <a:lvl1pPr defTabSz="990650" eaLnBrk="0" hangingPunct="0">
              <a:defRPr kumimoji="1" sz="1100" i="1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*</a:t>
            </a:r>
            <a:endParaRPr lang="en-US" sz="13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448642A-5E77-4026-9339-35E1BC4A53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639" tIns="0" rIns="20639" bIns="0" numCol="1" anchor="t" anchorCtr="0" compatLnSpc="1">
            <a:prstTxWarp prst="textNoShape">
              <a:avLst/>
            </a:prstTxWarp>
          </a:bodyPr>
          <a:lstStyle>
            <a:lvl1pPr algn="r" defTabSz="990650" eaLnBrk="0" hangingPunct="0">
              <a:defRPr kumimoji="1" sz="1100" i="1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16/7/96</a:t>
            </a:r>
            <a:endParaRPr lang="en-US" sz="1300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A1A25C5-3A74-44E6-9F29-6A369895533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8575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6108C69-ACB3-4EAA-BB5D-94AE415ED4D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755" tIns="49880" rIns="99755" bIns="498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 para editar os estilos do texto mestre</a:t>
            </a:r>
          </a:p>
          <a:p>
            <a:pPr lvl="1"/>
            <a:r>
              <a:rPr lang="en-US" noProof="0"/>
              <a:t>Segundo nível</a:t>
            </a:r>
          </a:p>
          <a:p>
            <a:pPr lvl="2"/>
            <a:r>
              <a:rPr lang="en-US" noProof="0"/>
              <a:t>Terceiro nível</a:t>
            </a:r>
          </a:p>
          <a:p>
            <a:pPr lvl="3"/>
            <a:r>
              <a:rPr lang="en-US" noProof="0"/>
              <a:t>Quarto nível</a:t>
            </a:r>
          </a:p>
          <a:p>
            <a:pPr lvl="4"/>
            <a:r>
              <a:rPr lang="en-US" noProof="0"/>
              <a:t>Quinto nível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E6252599-B6E0-4CE0-803E-2412D92FB6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639" tIns="0" rIns="20639" bIns="0" numCol="1" anchor="b" anchorCtr="0" compatLnSpc="1">
            <a:prstTxWarp prst="textNoShape">
              <a:avLst/>
            </a:prstTxWarp>
          </a:bodyPr>
          <a:lstStyle>
            <a:lvl1pPr defTabSz="990650" eaLnBrk="0" hangingPunct="0">
              <a:defRPr kumimoji="1" sz="1100" i="1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*</a:t>
            </a:r>
            <a:endParaRPr lang="en-US" sz="1300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71708E8-A598-483A-9B26-1B2908DCCB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900" y="9723438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0639" tIns="0" rIns="20639" bIns="0" numCol="1" anchor="b" anchorCtr="0" compatLnSpc="1">
            <a:prstTxWarp prst="textNoShape">
              <a:avLst/>
            </a:prstTxWarp>
          </a:bodyPr>
          <a:lstStyle>
            <a:lvl1pPr algn="r" defTabSz="990650" eaLnBrk="0" hangingPunct="0">
              <a:defRPr kumimoji="1" sz="1100" i="1">
                <a:latin typeface="Tahoma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##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8975343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98C9819-3553-4838-9FBD-2A0489270E9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 defTabSz="990600">
              <a:defRPr/>
            </a:pPr>
            <a:r>
              <a:rPr lang="en-US" dirty="0">
                <a:latin typeface="Tahoma" charset="0"/>
              </a:rPr>
              <a:t>*</a:t>
            </a:r>
            <a:endParaRPr lang="en-US" sz="1300" i="0" dirty="0">
              <a:latin typeface="Tahoma" charset="0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D94B04E-C8C6-427D-8AEF-A5F3D5AB6EF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 defTabSz="990600">
              <a:defRPr/>
            </a:pPr>
            <a:r>
              <a:rPr lang="en-US" dirty="0">
                <a:latin typeface="Tahoma" charset="0"/>
              </a:rPr>
              <a:t>16/7/96</a:t>
            </a:r>
            <a:endParaRPr lang="en-US" sz="1300" i="0" dirty="0">
              <a:latin typeface="Tahoma" charset="0"/>
            </a:endParaRPr>
          </a:p>
        </p:txBody>
      </p:sp>
      <p:sp>
        <p:nvSpPr>
          <p:cNvPr id="35844" name="Rectangle 6">
            <a:extLst>
              <a:ext uri="{FF2B5EF4-FFF2-40B4-BE49-F238E27FC236}">
                <a16:creationId xmlns:a16="http://schemas.microsoft.com/office/drawing/2014/main" id="{70716331-72C5-4827-8EE9-30414E64AE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 defTabSz="990600">
              <a:defRPr/>
            </a:pPr>
            <a:r>
              <a:rPr lang="en-US" dirty="0">
                <a:latin typeface="Tahoma" charset="0"/>
              </a:rPr>
              <a:t>*</a:t>
            </a:r>
            <a:endParaRPr lang="en-US" sz="1300" i="0" dirty="0">
              <a:latin typeface="Tahoma" charset="0"/>
            </a:endParaRPr>
          </a:p>
        </p:txBody>
      </p:sp>
      <p:sp>
        <p:nvSpPr>
          <p:cNvPr id="35845" name="Rectangle 7">
            <a:extLst>
              <a:ext uri="{FF2B5EF4-FFF2-40B4-BE49-F238E27FC236}">
                <a16:creationId xmlns:a16="http://schemas.microsoft.com/office/drawing/2014/main" id="{6CC1E2BF-4A1E-4D87-99CD-C5FC75804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defTabSz="990600">
              <a:defRPr/>
            </a:pPr>
            <a:r>
              <a:rPr lang="en-US" dirty="0">
                <a:latin typeface="Tahoma" charset="0"/>
              </a:rPr>
              <a:t>##</a:t>
            </a:r>
            <a:endParaRPr lang="en-US" sz="1300" i="0" dirty="0">
              <a:latin typeface="Tahoma" charset="0"/>
            </a:endParaRPr>
          </a:p>
        </p:txBody>
      </p:sp>
      <p:sp>
        <p:nvSpPr>
          <p:cNvPr id="6150" name="Rectangle 2">
            <a:extLst>
              <a:ext uri="{FF2B5EF4-FFF2-40B4-BE49-F238E27FC236}">
                <a16:creationId xmlns:a16="http://schemas.microsoft.com/office/drawing/2014/main" id="{28A38FCA-5BBC-4E01-BA71-4A0111B7F3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1" name="Rectangle 3">
            <a:extLst>
              <a:ext uri="{FF2B5EF4-FFF2-40B4-BE49-F238E27FC236}">
                <a16:creationId xmlns:a16="http://schemas.microsoft.com/office/drawing/2014/main" id="{496FC5BE-3AD0-4D79-9812-124B8AF21C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805019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pt-BR">
                  <a:ea typeface="+mn-ea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pt-BR"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pt-BR">
                  <a:ea typeface="+mn-ea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hangingPunct="0">
                  <a:defRPr/>
                </a:pPr>
                <a:endParaRPr lang="pt-BR">
                  <a:ea typeface="+mn-ea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pt-BR">
                <a:ea typeface="+mn-ea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pt-BR">
                <a:ea typeface="+mn-ea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defRPr/>
              </a:pPr>
              <a:endParaRPr lang="pt-BR">
                <a:ea typeface="+mn-ea"/>
                <a:cs typeface="+mn-cs"/>
              </a:endParaRPr>
            </a:p>
          </p:txBody>
        </p:sp>
      </p:grpSp>
      <p:sp>
        <p:nvSpPr>
          <p:cNvPr id="358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358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DD58286-DDA3-7249-8203-D2273F4FFFD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2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6517406" cy="1462087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90F65D-5BA5-4A4E-B930-933FC677B7CA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FC72272-E0D4-EA05-7D93-B38CB7420F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66634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29AB60-F7EF-6F4D-943F-CC4D20917DC4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2D12024-CA26-A21F-9953-48402DF59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9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6517405" cy="1462087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CEFBD6-81A3-9F42-A9F6-BF4132875F2D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946BD53-5A22-F85B-1734-758FF4B729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1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12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08C4BA-A4F9-3844-9A63-E303DFFDE6EC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7BC28D7-2277-95D0-A3E9-518FA5EE9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1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6517405" cy="1462087"/>
          </a:xfrm>
        </p:spPr>
        <p:txBody>
          <a:bodyPr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D381E2-01DD-1540-BD34-236D28EC19FF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064F25-888A-C0AB-31CF-5BBE9CB865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3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12184F-43BB-734E-BBB2-CD31AFDB23C9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69D35B-F11A-24C7-1715-30D5369113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66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EFF47B-B962-BB48-8659-3F324C8F3B80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2105C7F-AF33-0155-0493-C2EC92476B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3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38F92-A053-7549-A515-5231BC914980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F6D761D-41F4-790F-036D-5C395A4610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31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9" y="214313"/>
            <a:ext cx="6517406" cy="146208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5C7DEB-7E69-3843-9E36-AD91DA8BB04B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C4ACB40-7D7C-8902-34B9-986A62F0EE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0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4582839"/>
          </a:xfrm>
        </p:spPr>
        <p:txBody>
          <a:bodyPr vert="eaVert"/>
          <a:lstStyle/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B739F7-B885-324C-9DD3-180B8A50553C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C159834-3BEF-E8AC-5F40-2B04E86E4E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517412" y="5241379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28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pt-BR" sz="2400"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9" y="214313"/>
            <a:ext cx="6517406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Clique para </a:t>
            </a:r>
            <a:r>
              <a:rPr lang="en-US" dirty="0" err="1"/>
              <a:t>editar</a:t>
            </a:r>
            <a:r>
              <a:rPr lang="en-US" dirty="0"/>
              <a:t> o </a:t>
            </a:r>
            <a:r>
              <a:rPr lang="en-US" dirty="0" err="1"/>
              <a:t>estilo</a:t>
            </a:r>
            <a:r>
              <a:rPr lang="en-US" dirty="0"/>
              <a:t> do </a:t>
            </a:r>
            <a:r>
              <a:rPr lang="en-US" dirty="0" err="1"/>
              <a:t>título</a:t>
            </a:r>
            <a:r>
              <a:rPr lang="en-US" dirty="0"/>
              <a:t> </a:t>
            </a:r>
            <a:r>
              <a:rPr lang="en-US" dirty="0" err="1"/>
              <a:t>mestre</a:t>
            </a:r>
            <a:endParaRPr 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Clique para editar os estilos do texto mestre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</a:p>
        </p:txBody>
      </p:sp>
      <p:sp>
        <p:nvSpPr>
          <p:cNvPr id="348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charset="0"/>
              </a:defRPr>
            </a:lvl1pPr>
          </a:lstStyle>
          <a:p>
            <a:fld id="{62924539-5529-2246-81F0-0EE478DE0D50}" type="slidenum">
              <a:rPr lang="en-US"/>
              <a:pPr/>
              <a:t>‹nº›</a:t>
            </a:fld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FA43AD3-697A-BC26-39CD-1FC48B3BA5A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000" y="666000"/>
            <a:ext cx="951299" cy="5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9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charset="0"/>
        <a:buChar char="n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charset="0"/>
        <a:buChar char="n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rcos.ferreira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8354A9C2-EAA4-472A-B8F8-A142E63A8DF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Versionamento e </a:t>
            </a:r>
            <a:r>
              <a:rPr lang="pt-BR" altLang="pt-BR" dirty="0" err="1"/>
              <a:t>Git</a:t>
            </a:r>
            <a:endParaRPr lang="pt-BR" altLang="pt-BR" dirty="0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C26B8E0D-3A9B-6F90-58D2-2A1798ADB2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124" name="CaixaDeTexto 3">
            <a:extLst>
              <a:ext uri="{FF2B5EF4-FFF2-40B4-BE49-F238E27FC236}">
                <a16:creationId xmlns:a16="http://schemas.microsoft.com/office/drawing/2014/main" id="{7A1B4CC5-E465-4B65-B3EA-AD01729F7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797425"/>
            <a:ext cx="3097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</a:rPr>
              <a:t>Prof.  Marcos S. Ferreira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>
                <a:latin typeface="Arial" panose="020B0604020202020204" pitchFamily="34" charset="0"/>
                <a:hlinkClick r:id="rId3"/>
              </a:rPr>
              <a:t>msferreira.prof@gmail.com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E033BA-5B51-877C-C8D6-6F9021FB488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06" y="409002"/>
            <a:ext cx="2160587" cy="1267398"/>
          </a:xfrm>
          <a:prstGeom prst="rect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6321AC5-2F55-4125-8D0B-DA2254006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/>
              <a:t>Versionamento</a:t>
            </a:r>
            <a:endParaRPr lang="pt-BR" altLang="pt-BR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9969DFA-C421-4CE8-9E20-46BC62BBE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eaLnBrk="1" hangingPunct="1"/>
            <a:r>
              <a:rPr lang="pt-BR" altLang="pt-BR"/>
              <a:t>Existe algum ganho ao utilizarmos?</a:t>
            </a:r>
          </a:p>
          <a:p>
            <a:pPr eaLnBrk="1" hangingPunct="1"/>
            <a:r>
              <a:rPr lang="pt-BR" altLang="pt-BR"/>
              <a:t>Eu sei conheço alguma forma de versionamento de código?</a:t>
            </a:r>
          </a:p>
          <a:p>
            <a:pPr eaLnBrk="1" hangingPunct="1"/>
            <a:r>
              <a:rPr lang="pt-BR" altLang="pt-BR"/>
              <a:t>Quais seriam os problemas evitados com o versionamento?</a:t>
            </a:r>
          </a:p>
          <a:p>
            <a:pPr eaLnBrk="1" hangingPunct="1"/>
            <a:r>
              <a:rPr lang="pt-BR" altLang="pt-BR"/>
              <a:t>Será que eu preciso desenvolver meu código com versionamento?</a:t>
            </a:r>
          </a:p>
          <a:p>
            <a:pPr eaLnBrk="1" hangingPunct="1"/>
            <a:endParaRPr lang="pt-BR" altLang="pt-BR" dirty="0"/>
          </a:p>
        </p:txBody>
      </p:sp>
      <p:sp>
        <p:nvSpPr>
          <p:cNvPr id="8196" name="Espaço Reservado para Número de Slide 5">
            <a:extLst>
              <a:ext uri="{FF2B5EF4-FFF2-40B4-BE49-F238E27FC236}">
                <a16:creationId xmlns:a16="http://schemas.microsoft.com/office/drawing/2014/main" id="{D518E553-D0C1-4FD1-AF4F-82414BEDAB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C64E62-A752-4A49-A8A4-5347794B512D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pt-BR" sz="140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2D684F9-C09B-4F2D-B668-BAFDBC3F4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/>
              <a:t>Visão geral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277A3EC-7C75-47E1-B012-59F9347497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eaLnBrk="1" hangingPunct="1"/>
            <a:r>
              <a:rPr lang="pt-BR" altLang="pt-BR"/>
              <a:t>O que é Versionamento.</a:t>
            </a:r>
          </a:p>
          <a:p>
            <a:pPr eaLnBrk="1" hangingPunct="1"/>
            <a:r>
              <a:rPr lang="pt-BR" altLang="pt-BR"/>
              <a:t>O que é Controle de Versão.</a:t>
            </a:r>
          </a:p>
          <a:p>
            <a:pPr eaLnBrk="1" hangingPunct="1"/>
            <a:r>
              <a:rPr lang="pt-BR" altLang="pt-BR"/>
              <a:t>Conhecendo o Git.</a:t>
            </a:r>
          </a:p>
          <a:p>
            <a:pPr eaLnBrk="1" hangingPunct="1"/>
            <a:r>
              <a:rPr lang="pt-BR" altLang="pt-BR"/>
              <a:t>Conhecendo o Github. </a:t>
            </a:r>
          </a:p>
          <a:p>
            <a:pPr eaLnBrk="1" hangingPunct="1"/>
            <a:r>
              <a:rPr lang="pt-BR" altLang="pt-BR"/>
              <a:t>Exercícios.</a:t>
            </a:r>
            <a:endParaRPr lang="pt-BR" altLang="pt-BR" dirty="0"/>
          </a:p>
        </p:txBody>
      </p:sp>
      <p:sp>
        <p:nvSpPr>
          <p:cNvPr id="9220" name="Espaço Reservado para Número de Slide 3">
            <a:extLst>
              <a:ext uri="{FF2B5EF4-FFF2-40B4-BE49-F238E27FC236}">
                <a16:creationId xmlns:a16="http://schemas.microsoft.com/office/drawing/2014/main" id="{5B550E6C-DDCE-40CB-BF1E-35BCA6026D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1D6A83-2E16-40C7-960F-5A181267BC97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pt-BR" sz="140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Versionamento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400" dirty="0"/>
              <a:t>O versionamento de uma aplicação tem como foco principal documentar as inclusões, alterações ou até mesmo exclusões de funcionalidades. </a:t>
            </a:r>
          </a:p>
          <a:p>
            <a:r>
              <a:rPr lang="pt-BR" sz="2400" dirty="0"/>
              <a:t>Permite saber exatamente quando uma determinada funcionalidade foi ao ar e mais do que isso, é possível resgatar uma versão anterior em caso de erros durante o processo de publicação.</a:t>
            </a:r>
          </a:p>
          <a:p>
            <a:r>
              <a:rPr lang="pt-BR" sz="2400" dirty="0"/>
              <a:t>Ter uma aplicação “</a:t>
            </a:r>
            <a:r>
              <a:rPr lang="pt-BR" sz="2400" dirty="0" err="1"/>
              <a:t>versionada</a:t>
            </a:r>
            <a:r>
              <a:rPr lang="pt-BR" sz="2400" dirty="0"/>
              <a:t>” significa dar muito mais segurança a quem a utiliza.</a:t>
            </a:r>
          </a:p>
          <a:p>
            <a:r>
              <a:rPr lang="pt-BR" sz="2400" dirty="0"/>
              <a:t>Mesmo em projetos menores, o versionamento é essencial.</a:t>
            </a:r>
            <a:endParaRPr lang="pt-BR" sz="20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pt-BR" sz="1400" dirty="0"/>
          </a:p>
        </p:txBody>
      </p:sp>
    </p:spTree>
    <p:extLst>
      <p:ext uri="{BB962C8B-B14F-4D97-AF65-F5344CB8AC3E}">
        <p14:creationId xmlns:p14="http://schemas.microsoft.com/office/powerpoint/2010/main" val="642477078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Controle de Versão 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000"/>
              <a:t>O controle de versão ou VCS (Version Control System) é um sistema que registra alterações em um arquivo ou conjunto de arquivos ao longo do tempo, para que você possa recuperar versões específicas mais tarde.</a:t>
            </a:r>
          </a:p>
          <a:p>
            <a:r>
              <a:rPr lang="pt-BR" sz="2000"/>
              <a:t>Permite reverter arquivos de volta a um estado anterior, reverter todo o projeto para um estado anterior, comparar alterações ao longo do tempo, ver quem modificou pela última vez algo que pode estar causando um problema, quem introduziu um problema, quando e mais. </a:t>
            </a:r>
          </a:p>
          <a:p>
            <a:r>
              <a:rPr lang="pt-BR" sz="2000"/>
              <a:t>O uso de um VCS geralmente também significa que, se você estragar tudo ou perder arquivos, poderá recuperar facilmente.</a:t>
            </a:r>
            <a:endParaRPr lang="pt-BR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pt-BR" sz="140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Controle de Versão 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/>
              <a:t>Alguns dos sistemas de controle de versão mais conhecidos:</a:t>
            </a:r>
          </a:p>
          <a:p>
            <a:pPr lvl="1"/>
            <a:r>
              <a:rPr lang="pt-BR" sz="2400"/>
              <a:t>CVS.</a:t>
            </a:r>
          </a:p>
          <a:p>
            <a:pPr lvl="1"/>
            <a:r>
              <a:rPr lang="pt-BR" sz="2400"/>
              <a:t>Mercurial.</a:t>
            </a:r>
          </a:p>
          <a:p>
            <a:pPr lvl="1"/>
            <a:r>
              <a:rPr lang="pt-BR" sz="2400"/>
              <a:t>Git.</a:t>
            </a:r>
          </a:p>
          <a:p>
            <a:pPr lvl="1"/>
            <a:r>
              <a:rPr lang="pt-BR" sz="2400"/>
              <a:t>SVN (Subversion).</a:t>
            </a:r>
          </a:p>
          <a:p>
            <a:pPr lvl="1"/>
            <a:r>
              <a:rPr lang="pt-BR" sz="2400"/>
              <a:t>SourceSafe – Microsoft.</a:t>
            </a:r>
          </a:p>
          <a:p>
            <a:pPr lvl="1"/>
            <a:r>
              <a:rPr lang="pt-BR" sz="2400"/>
              <a:t>TFS – Microsoft.</a:t>
            </a:r>
          </a:p>
          <a:p>
            <a:pPr lvl="1"/>
            <a:r>
              <a:rPr lang="pt-BR" sz="2400"/>
              <a:t>ClearCase – IBM.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4172046454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Controle de Versão </a:t>
            </a:r>
            <a:r>
              <a:rPr lang="pt-BR" altLang="pt-BR" sz="3600" i="1" dirty="0"/>
              <a:t>Sistemas...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95936" y="2128838"/>
            <a:ext cx="4824536" cy="4324498"/>
          </a:xfrm>
        </p:spPr>
        <p:txBody>
          <a:bodyPr lIns="182562" tIns="46037" rIns="182562" bIns="46037"/>
          <a:lstStyle/>
          <a:p>
            <a:pPr marL="0" indent="0">
              <a:buNone/>
            </a:pP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Controle de Versão Local</a:t>
            </a:r>
            <a:endParaRPr lang="pt-BR" sz="18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pt-BR" sz="1800"/>
              <a:t>RCS foi uma das ferramentas VCS mais populares.</a:t>
            </a:r>
          </a:p>
          <a:p>
            <a:pPr algn="just"/>
            <a:r>
              <a:rPr lang="pt-BR" sz="1800"/>
              <a:t>Ainda é distribuído em muitos computadores atualmente. </a:t>
            </a:r>
          </a:p>
          <a:p>
            <a:pPr algn="just"/>
            <a:r>
              <a:rPr lang="pt-BR" sz="1800"/>
              <a:t>Funciona mantendo os conjuntos de patches (ou seja, as diferenças entre os arquivos) em um formato especial no disco.</a:t>
            </a:r>
          </a:p>
          <a:p>
            <a:pPr algn="just"/>
            <a:r>
              <a:rPr lang="pt-BR" sz="1800"/>
              <a:t>Pode recriar a aparência de qualquer arquivo a qualquer momento, adicionando todos os patches.</a:t>
            </a:r>
          </a:p>
          <a:p>
            <a:endParaRPr lang="pt-BR" sz="18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pt-BR" sz="1400"/>
          </a:p>
        </p:txBody>
      </p:sp>
      <p:pic>
        <p:nvPicPr>
          <p:cNvPr id="3" name="Imagem 2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47FE577B-C495-FF43-9365-EB6637884C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213738"/>
            <a:ext cx="3240360" cy="2762407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BC1E2BD-2024-094F-85CB-11DC410D8039}"/>
              </a:ext>
            </a:extLst>
          </p:cNvPr>
          <p:cNvSpPr txBox="1"/>
          <p:nvPr/>
        </p:nvSpPr>
        <p:spPr>
          <a:xfrm>
            <a:off x="1138754" y="6222504"/>
            <a:ext cx="2520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57285860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Controle de Versão </a:t>
            </a:r>
            <a:r>
              <a:rPr lang="pt-BR" altLang="pt-BR" sz="3600" i="1" dirty="0"/>
              <a:t>Sistemas...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95936" y="2128838"/>
            <a:ext cx="4824536" cy="4324498"/>
          </a:xfrm>
        </p:spPr>
        <p:txBody>
          <a:bodyPr lIns="182562" tIns="46037" rIns="182562" bIns="46037"/>
          <a:lstStyle/>
          <a:p>
            <a:pPr marL="0" indent="0">
              <a:buNone/>
            </a:pP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Controle de Versão Centralizado</a:t>
            </a:r>
            <a:endParaRPr lang="pt-BR" sz="18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pt-BR" sz="1800"/>
              <a:t>CVS e Subversion. </a:t>
            </a:r>
          </a:p>
          <a:p>
            <a:pPr algn="just"/>
            <a:r>
              <a:rPr lang="pt-BR" sz="1800"/>
              <a:t>Têm um único servidor que contém todos os arquivos com versão e vários clientes que fazem </a:t>
            </a:r>
            <a:r>
              <a:rPr lang="pt-BR" sz="1800">
                <a:solidFill>
                  <a:schemeClr val="tx2">
                    <a:lumMod val="60000"/>
                    <a:lumOff val="40000"/>
                  </a:schemeClr>
                </a:solidFill>
              </a:rPr>
              <a:t>checkout</a:t>
            </a:r>
            <a:r>
              <a:rPr lang="pt-BR" sz="1800"/>
              <a:t> de arquivos daquele local central.</a:t>
            </a:r>
          </a:p>
          <a:p>
            <a:pPr algn="just"/>
            <a:r>
              <a:rPr lang="pt-BR" sz="1800"/>
              <a:t>Melhor controle e visão do que é versionado.	</a:t>
            </a:r>
          </a:p>
          <a:p>
            <a:pPr algn="just"/>
            <a:r>
              <a:rPr lang="pt-BR" sz="1800"/>
              <a:t>Como desvantagem, um ponto único de falha que o servidor centralizado representa.</a:t>
            </a:r>
          </a:p>
          <a:p>
            <a:pPr algn="just"/>
            <a:r>
              <a:rPr lang="pt-BR" sz="1800"/>
              <a:t>Isto pode causar a perda de todo o histórico do projeto.</a:t>
            </a:r>
          </a:p>
          <a:p>
            <a:endParaRPr lang="pt-BR" sz="18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pt-BR" sz="1400" dirty="0"/>
          </a:p>
        </p:txBody>
      </p:sp>
      <p:pic>
        <p:nvPicPr>
          <p:cNvPr id="6" name="Picture 2" descr="/var/folders/hm/_mjq5s7n4fz50nt709w6g_yc0000gn/T/com.microsoft.Powerpoint/WebArchiveCopyPasteTempFiles/p1044">
            <a:extLst>
              <a:ext uri="{FF2B5EF4-FFF2-40B4-BE49-F238E27FC236}">
                <a16:creationId xmlns:a16="http://schemas.microsoft.com/office/drawing/2014/main" id="{22ECA219-2581-F64A-84A4-77F19D0E0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60631"/>
            <a:ext cx="3548900" cy="246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61BC69A-275C-C54A-93D9-E4E844636B61}"/>
              </a:ext>
            </a:extLst>
          </p:cNvPr>
          <p:cNvSpPr txBox="1"/>
          <p:nvPr/>
        </p:nvSpPr>
        <p:spPr>
          <a:xfrm>
            <a:off x="1144866" y="6222504"/>
            <a:ext cx="2520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237157151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Controle de Versão– </a:t>
            </a:r>
            <a:r>
              <a:rPr lang="pt-BR" altLang="pt-BR" sz="3600" i="1" dirty="0"/>
              <a:t>Sistemas...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95936" y="2128838"/>
            <a:ext cx="4824536" cy="4324498"/>
          </a:xfrm>
        </p:spPr>
        <p:txBody>
          <a:bodyPr lIns="182562" tIns="46037" rIns="182562" bIns="46037"/>
          <a:lstStyle/>
          <a:p>
            <a:pPr marL="0" indent="0">
              <a:buNone/>
            </a:pP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Controle de Versão Distribuído</a:t>
            </a:r>
            <a:endParaRPr lang="pt-BR" sz="18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pt-BR" sz="1800"/>
              <a:t>Git e Mercurial. </a:t>
            </a:r>
          </a:p>
          <a:p>
            <a:pPr algn="just"/>
            <a:r>
              <a:rPr lang="pt-BR" sz="1800"/>
              <a:t>Contém repositórios remotos.</a:t>
            </a:r>
          </a:p>
          <a:p>
            <a:pPr algn="just"/>
            <a:r>
              <a:rPr lang="pt-BR" sz="1800"/>
              <a:t>Clientes espelham completamente o repositório. </a:t>
            </a:r>
          </a:p>
          <a:p>
            <a:pPr algn="just"/>
            <a:r>
              <a:rPr lang="pt-BR" sz="1800"/>
              <a:t>Se algum servidor morrer, e esses sistemas estiverem colaborando com ele, qualquer um dos repositórios do cliente poderá ser copiado para o servidor para restaurá-lo.</a:t>
            </a:r>
          </a:p>
          <a:p>
            <a:pPr algn="just"/>
            <a:r>
              <a:rPr lang="pt-BR" sz="1800"/>
              <a:t>Todo clone é realmente um backup completo de todos os dados.</a:t>
            </a:r>
            <a:endParaRPr lang="pt-BR" sz="18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pt-BR" sz="1400" dirty="0"/>
          </a:p>
        </p:txBody>
      </p:sp>
      <p:pic>
        <p:nvPicPr>
          <p:cNvPr id="3074" name="Picture 2" descr="/var/folders/hm/_mjq5s7n4fz50nt709w6g_yc0000gn/T/com.microsoft.Powerpoint/WebArchiveCopyPasteTempFiles/p1043">
            <a:extLst>
              <a:ext uri="{FF2B5EF4-FFF2-40B4-BE49-F238E27FC236}">
                <a16:creationId xmlns:a16="http://schemas.microsoft.com/office/drawing/2014/main" id="{41F14E62-E3E5-CD4E-A5FB-4E8AFA4E7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3189007" cy="382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FC31AA5-07B9-4142-9F3C-F0B98324EE83}"/>
              </a:ext>
            </a:extLst>
          </p:cNvPr>
          <p:cNvSpPr txBox="1"/>
          <p:nvPr/>
        </p:nvSpPr>
        <p:spPr>
          <a:xfrm>
            <a:off x="1212689" y="6356822"/>
            <a:ext cx="2520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809607950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GitHub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000"/>
              <a:t>Plataforma de hospedagem de repositórios baseada em Git com 26 milhões de usuários (março de 2017).</a:t>
            </a:r>
          </a:p>
          <a:p>
            <a:r>
              <a:rPr lang="pt-BR" sz="2000"/>
              <a:t>Projetos do GitHub podem ser tornados públicos e todo código compartilhado publicamente é aberto gratuitamente a todos. </a:t>
            </a:r>
          </a:p>
          <a:p>
            <a:r>
              <a:rPr lang="pt-BR" sz="2000"/>
              <a:t>Projetos privados podem ser hospedados no GitHub, mas possuem algumas restrições de uso.</a:t>
            </a:r>
          </a:p>
          <a:p>
            <a:r>
              <a:rPr lang="pt-BR" sz="2000"/>
              <a:t>Repositórios públicos no GitHub são frequentemente usados para compartilhar software de código aberto. </a:t>
            </a:r>
          </a:p>
          <a:p>
            <a:r>
              <a:rPr lang="pt-BR" sz="2000"/>
              <a:t>Além do repositório de código básico, o GitHub pode ser usado para rastreamento de problemas, documentação e wikis.</a:t>
            </a:r>
          </a:p>
          <a:p>
            <a:r>
              <a:rPr lang="pt-BR" sz="2400"/>
              <a:t>https://github.com</a:t>
            </a:r>
            <a:endParaRPr lang="pt-BR" sz="28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328547894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8D1324D3-E32F-4566-B58B-22472F4E0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Versionamento </a:t>
            </a:r>
            <a:r>
              <a:rPr lang="pt-BR" altLang="pt-BR" sz="3600" i="1" dirty="0"/>
              <a:t>Praticando...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FE8DA586-5F38-4333-A1DD-C2B8C30DCA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pt-BR"/>
              <a:t>Abrir o site do GitHub e utilizá-lo para armazenar e controlar versões de aplicações WEB.</a:t>
            </a:r>
            <a:endParaRPr lang="pt-BR" sz="2400"/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endParaRPr lang="pt-BR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388" name="Espaço Reservado para Número de Slide 3">
            <a:extLst>
              <a:ext uri="{FF2B5EF4-FFF2-40B4-BE49-F238E27FC236}">
                <a16:creationId xmlns:a16="http://schemas.microsoft.com/office/drawing/2014/main" id="{30690A31-50E6-48DE-998E-D50731BA93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042EB1-AFB6-4461-A586-DDF6DA5D4D1D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260956511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400"/>
              <a:t>Sistema de Controle de Versão Distribuído.</a:t>
            </a:r>
          </a:p>
          <a:p>
            <a:pPr algn="just"/>
            <a:r>
              <a:rPr lang="pt-BR" sz="2400"/>
              <a:t>Armazena e pensa nas informações de maneira muito diferente dos outros sistemas.</a:t>
            </a:r>
          </a:p>
          <a:p>
            <a:pPr algn="just"/>
            <a:r>
              <a:rPr lang="pt-BR" sz="2400"/>
              <a:t>Outros sistemas pensam nas informações que eles mantêm como um conjunto de arquivos e nas alterações feitas em cada arquivo ao longo do tempo.</a:t>
            </a:r>
          </a:p>
          <a:p>
            <a:pPr algn="just"/>
            <a:r>
              <a:rPr lang="pt-BR" sz="2400"/>
              <a:t>Git trata os seus dados como um conjunto de 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snapshots</a:t>
            </a:r>
            <a:r>
              <a:rPr lang="pt-BR" sz="2400"/>
              <a:t> (instantâneos) de um sistema de arquivos em miniatura.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2667528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62AE6213-3C09-4377-840F-B83430615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sz="5400" i="1" dirty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38CFB5D-DB6B-4B1C-BE34-B84F03D9C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/>
              <a:t>Outros VCS:</a:t>
            </a:r>
            <a:endParaRPr lang="pt-BR" sz="2000" dirty="0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DBD4A799-2E91-414D-BD71-C9A8928FD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7F43CE-B494-4432-8C5F-714304775A70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pt-BR" sz="14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D985DB-EB01-0C43-B7AF-62C77258841E}"/>
              </a:ext>
            </a:extLst>
          </p:cNvPr>
          <p:cNvSpPr txBox="1"/>
          <p:nvPr/>
        </p:nvSpPr>
        <p:spPr>
          <a:xfrm>
            <a:off x="3776700" y="6243638"/>
            <a:ext cx="2088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  <p:pic>
        <p:nvPicPr>
          <p:cNvPr id="5122" name="Picture 2" descr="/var/folders/hm/_mjq5s7n4fz50nt709w6g_yc0000gn/T/com.microsoft.Powerpoint/WebArchiveCopyPasteTempFiles/p1042">
            <a:extLst>
              <a:ext uri="{FF2B5EF4-FFF2-40B4-BE49-F238E27FC236}">
                <a16:creationId xmlns:a16="http://schemas.microsoft.com/office/drawing/2014/main" id="{D43EF50F-A8B2-DF42-9E21-3FE7F3142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52936"/>
            <a:ext cx="7315200" cy="283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75187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62AE6213-3C09-4377-840F-B83430615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O que é...</a:t>
            </a:r>
            <a:endParaRPr lang="pt-BR" altLang="pt-BR" sz="5400" i="1" dirty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38CFB5D-DB6B-4B1C-BE34-B84F03D9C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/>
              <a:t>Git:</a:t>
            </a:r>
            <a:endParaRPr lang="pt-BR" sz="2000" dirty="0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DBD4A799-2E91-414D-BD71-C9A8928FD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7F43CE-B494-4432-8C5F-714304775A70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pt-BR" sz="14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D985DB-EB01-0C43-B7AF-62C77258841E}"/>
              </a:ext>
            </a:extLst>
          </p:cNvPr>
          <p:cNvSpPr txBox="1"/>
          <p:nvPr/>
        </p:nvSpPr>
        <p:spPr>
          <a:xfrm>
            <a:off x="3776700" y="6243638"/>
            <a:ext cx="2088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  <p:pic>
        <p:nvPicPr>
          <p:cNvPr id="6146" name="Picture 2" descr="/var/folders/hm/_mjq5s7n4fz50nt709w6g_yc0000gn/T/com.microsoft.Powerpoint/WebArchiveCopyPasteTempFiles/p1040">
            <a:extLst>
              <a:ext uri="{FF2B5EF4-FFF2-40B4-BE49-F238E27FC236}">
                <a16:creationId xmlns:a16="http://schemas.microsoft.com/office/drawing/2014/main" id="{2E3DC8DE-3FE4-2C43-8100-A002128C2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99" y="2852936"/>
            <a:ext cx="7389201" cy="282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783799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000"/>
              <a:t>A maioria das operações no Git precisa apenas de arquivos e recursos locais para operar e são operações de adição de dados.</a:t>
            </a:r>
          </a:p>
          <a:p>
            <a:pPr algn="just"/>
            <a:r>
              <a:rPr lang="pt-BR" sz="2000"/>
              <a:t>O histórico do projeto é mantido no seu disco local trazendo rapidez em sua utilização.</a:t>
            </a:r>
          </a:p>
          <a:p>
            <a:pPr algn="just"/>
            <a:r>
              <a:rPr lang="pt-BR" sz="2000"/>
              <a:t>Permite trabalhar desconectado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offline</a:t>
            </a:r>
            <a:r>
              <a:rPr lang="pt-BR" sz="2000"/>
              <a:t>) do servidor.</a:t>
            </a:r>
          </a:p>
          <a:p>
            <a:pPr algn="just"/>
            <a:r>
              <a:rPr lang="pt-BR" sz="2000"/>
              <a:t>Utiliza o algoritmo SHA-1 para gerar um “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hash</a:t>
            </a:r>
            <a:r>
              <a:rPr lang="pt-BR" sz="2000"/>
              <a:t>” (cadeia de 40 caracteres) sobre o arquivo ou o diretório onde ele se encontra, armazenando essa informação de controle e mantendo sua integridade.</a:t>
            </a:r>
          </a:p>
          <a:p>
            <a:pPr algn="just"/>
            <a:r>
              <a:rPr lang="pt-BR" sz="2000"/>
              <a:t>O “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hash</a:t>
            </a:r>
            <a:r>
              <a:rPr lang="pt-BR" sz="2000"/>
              <a:t>” garante a integridade do arquivo alterado.</a:t>
            </a:r>
            <a:endParaRPr lang="pt-BR" sz="20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706483372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400"/>
              <a:t>O Git possui três estados principais nos quais seus arquivos podem se encontrar:</a:t>
            </a:r>
          </a:p>
          <a:p>
            <a:pPr lvl="1" algn="just"/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Committed</a:t>
            </a:r>
            <a:r>
              <a:rPr lang="pt-BR" sz="2400"/>
              <a:t> (confirmado)</a:t>
            </a:r>
          </a:p>
          <a:p>
            <a:pPr lvl="2" algn="just"/>
            <a:r>
              <a:rPr lang="pt-BR" sz="2000"/>
              <a:t>Significa que os dados são armazenados com segurança no seu banco de dados local. </a:t>
            </a:r>
          </a:p>
          <a:p>
            <a:pPr lvl="1" algn="just"/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Modified</a:t>
            </a:r>
            <a:r>
              <a:rPr lang="pt-BR" sz="2400"/>
              <a:t> (modificado)</a:t>
            </a:r>
            <a:endParaRPr lang="pt-BR" sz="1800"/>
          </a:p>
          <a:p>
            <a:pPr lvl="2" algn="just"/>
            <a:r>
              <a:rPr lang="pt-BR" sz="2000"/>
              <a:t>Significa que você alterou o arquivo, mas ainda não o confirmou no seu banco de dados. </a:t>
            </a:r>
          </a:p>
          <a:p>
            <a:pPr lvl="1" algn="just"/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Staged</a:t>
            </a:r>
            <a:r>
              <a:rPr lang="pt-BR" sz="2400"/>
              <a:t> (preparado)</a:t>
            </a:r>
            <a:endParaRPr lang="pt-BR" sz="1800"/>
          </a:p>
          <a:p>
            <a:pPr lvl="2" algn="just"/>
            <a:r>
              <a:rPr lang="pt-BR" sz="2000"/>
              <a:t>Significa que você marcou um arquivo modificado em sua versão atual para entrar na sua próxima confirmação de snapshot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commit snapshot</a:t>
            </a:r>
            <a:r>
              <a:rPr lang="pt-BR" sz="2000"/>
              <a:t>).</a:t>
            </a:r>
            <a:endParaRPr lang="pt-BR" sz="20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6070429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62AE6213-3C09-4377-840F-B83430615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r>
              <a:rPr lang="pt-BR" altLang="pt-BR" dirty="0"/>
              <a:t> 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sz="5400" i="1" dirty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38CFB5D-DB6B-4B1C-BE34-B84F03D9C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Working Tree</a:t>
            </a:r>
            <a:r>
              <a:rPr lang="pt-BR" sz="2800"/>
              <a:t>, </a:t>
            </a:r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Staging Area</a:t>
            </a:r>
            <a:r>
              <a:rPr lang="pt-BR" sz="2800"/>
              <a:t> e </a:t>
            </a:r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Git directory</a:t>
            </a:r>
            <a:r>
              <a:rPr lang="pt-BR" sz="2800"/>
              <a:t>:</a:t>
            </a:r>
            <a:endParaRPr lang="pt-BR" sz="2000" dirty="0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DBD4A799-2E91-414D-BD71-C9A8928FD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7F43CE-B494-4432-8C5F-714304775A70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pt-BR" sz="14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D985DB-EB01-0C43-B7AF-62C77258841E}"/>
              </a:ext>
            </a:extLst>
          </p:cNvPr>
          <p:cNvSpPr txBox="1"/>
          <p:nvPr/>
        </p:nvSpPr>
        <p:spPr>
          <a:xfrm>
            <a:off x="3776700" y="6243638"/>
            <a:ext cx="2088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  <p:pic>
        <p:nvPicPr>
          <p:cNvPr id="2" name="Picture 2" descr="/var/folders/hm/_mjq5s7n4fz50nt709w6g_yc0000gn/T/com.microsoft.Powerpoint/WebArchiveCopyPasteTempFiles/p1039">
            <a:extLst>
              <a:ext uri="{FF2B5EF4-FFF2-40B4-BE49-F238E27FC236}">
                <a16:creationId xmlns:a16="http://schemas.microsoft.com/office/drawing/2014/main" id="{157D3BD6-06DC-6742-8CBB-53479BC08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690229"/>
            <a:ext cx="6235080" cy="344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37132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r>
              <a:rPr lang="pt-BR" altLang="pt-BR" dirty="0"/>
              <a:t> 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Git directory</a:t>
            </a:r>
          </a:p>
          <a:p>
            <a:pPr lvl="1" algn="just"/>
            <a:r>
              <a:rPr lang="pt-BR" sz="2400"/>
              <a:t>Onde são armazenados os metadados e o banco de dados de objetos para o seu projeto.</a:t>
            </a:r>
          </a:p>
          <a:p>
            <a:pPr lvl="1" algn="just"/>
            <a:r>
              <a:rPr lang="pt-BR" sz="2400"/>
              <a:t>Parte mais importante do Git e é o que é copiado quando você clona um repositório de outro computador.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2678131989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Working Tree</a:t>
            </a:r>
          </a:p>
          <a:p>
            <a:pPr lvl="1" algn="just"/>
            <a:r>
              <a:rPr lang="pt-BR" sz="2400"/>
              <a:t>A árvore de trabalho é um “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checkout</a:t>
            </a:r>
            <a:r>
              <a:rPr lang="pt-BR" sz="2400"/>
              <a:t>” único de uma versão do projeto. </a:t>
            </a:r>
          </a:p>
          <a:p>
            <a:pPr lvl="1" algn="just"/>
            <a:r>
              <a:rPr lang="pt-BR" sz="2400"/>
              <a:t>Esses arquivos são retirados do banco de dados compactado no diretório Git e colocados no disco para você usar ou modificar.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248376862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Staging Area</a:t>
            </a:r>
          </a:p>
          <a:p>
            <a:pPr lvl="1" algn="just"/>
            <a:r>
              <a:rPr lang="pt-BR" sz="2400"/>
              <a:t> Arquivo, geralmente contido no diretório Git, que armazena informações sobre o que será inserido no seu próximo “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commit</a:t>
            </a:r>
            <a:r>
              <a:rPr lang="pt-BR" sz="2400"/>
              <a:t>”. </a:t>
            </a:r>
          </a:p>
          <a:p>
            <a:pPr lvl="1" algn="just"/>
            <a:r>
              <a:rPr lang="pt-BR" sz="2400"/>
              <a:t>Seu nome técnico na linguagem Git é o “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index</a:t>
            </a:r>
            <a:r>
              <a:rPr lang="pt-BR" sz="2400"/>
              <a:t>”, mas a frase “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staging area</a:t>
            </a:r>
            <a:r>
              <a:rPr lang="pt-BR" sz="2400"/>
              <a:t>” também funciona. 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331510285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Como trabalha...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Workflow básico do Git</a:t>
            </a:r>
            <a:endParaRPr lang="pt-BR" sz="1800"/>
          </a:p>
          <a:p>
            <a:pPr algn="just">
              <a:buFont typeface="+mj-lt"/>
              <a:buAutoNum type="arabicPeriod"/>
            </a:pPr>
            <a:r>
              <a:rPr lang="pt-BR" sz="2000"/>
              <a:t>Você modifica arquivos na sua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Working Tree</a:t>
            </a:r>
            <a:r>
              <a:rPr lang="pt-BR" sz="2000"/>
              <a:t>.</a:t>
            </a:r>
          </a:p>
          <a:p>
            <a:pPr algn="just">
              <a:buFont typeface="+mj-lt"/>
              <a:buAutoNum type="arabicPeriod"/>
            </a:pPr>
            <a:r>
              <a:rPr lang="pt-BR" sz="2000"/>
              <a:t>Você seleciona seletivamente apenas as alterações que deseja fazer parte do seu próximo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commit</a:t>
            </a:r>
            <a:r>
              <a:rPr lang="pt-BR" sz="2000"/>
              <a:t>, adicionando apenas essas alterações à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Staging Area</a:t>
            </a:r>
            <a:r>
              <a:rPr lang="pt-BR" sz="2000"/>
              <a:t>.</a:t>
            </a:r>
          </a:p>
          <a:p>
            <a:pPr algn="just">
              <a:buFont typeface="+mj-lt"/>
              <a:buAutoNum type="arabicPeriod"/>
            </a:pPr>
            <a:r>
              <a:rPr lang="pt-BR" sz="2000"/>
              <a:t>Você faz uma confirmação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commit</a:t>
            </a:r>
            <a:r>
              <a:rPr lang="pt-BR" sz="2000"/>
              <a:t>), que pega os arquivos como estão na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Staging Area </a:t>
            </a:r>
            <a:r>
              <a:rPr lang="pt-BR" sz="2000"/>
              <a:t>e armazena o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snapshot</a:t>
            </a:r>
            <a:r>
              <a:rPr lang="pt-BR" sz="2000"/>
              <a:t> permanentemente no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Git Directory</a:t>
            </a:r>
            <a:r>
              <a:rPr lang="pt-BR" sz="2000"/>
              <a:t>.</a:t>
            </a:r>
          </a:p>
          <a:p>
            <a:pPr marL="400050" lvl="1" indent="0" algn="just">
              <a:buNone/>
            </a:pPr>
            <a:r>
              <a:rPr lang="pt-BR" sz="2000"/>
              <a:t>Se uma versão específica de um arquivo estiver no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Git Directory</a:t>
            </a:r>
            <a:r>
              <a:rPr lang="pt-BR" sz="2000"/>
              <a:t>, ela será considerada confirmada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commited</a:t>
            </a:r>
            <a:r>
              <a:rPr lang="pt-BR" sz="2000"/>
              <a:t>). Se ele foi modificado e foi adicionado à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Staging Area</a:t>
            </a:r>
            <a:r>
              <a:rPr lang="pt-BR" sz="2000"/>
              <a:t>, é preparado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staged</a:t>
            </a:r>
            <a:r>
              <a:rPr lang="pt-BR" sz="2000"/>
              <a:t>). E se foi alterado desde o 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check-ou</a:t>
            </a:r>
            <a:r>
              <a:rPr lang="pt-BR" sz="2000"/>
              <a:t>t, mas não foi preparado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staged</a:t>
            </a:r>
            <a:r>
              <a:rPr lang="pt-BR" sz="2000"/>
              <a:t>), é modificado (</a:t>
            </a:r>
            <a:r>
              <a:rPr lang="pt-BR" sz="2000">
                <a:solidFill>
                  <a:schemeClr val="tx2">
                    <a:lumMod val="60000"/>
                    <a:lumOff val="40000"/>
                  </a:schemeClr>
                </a:solidFill>
              </a:rPr>
              <a:t>modified</a:t>
            </a:r>
            <a:r>
              <a:rPr lang="pt-BR" sz="2000"/>
              <a:t>).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13066889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Instalação...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algn="just"/>
            <a:r>
              <a:rPr lang="pt-BR" sz="2800"/>
              <a:t>Pode ser instalado no Windows, Linux ou macOS.</a:t>
            </a:r>
          </a:p>
          <a:p>
            <a:pPr algn="just"/>
            <a:r>
              <a:rPr lang="pt-BR" sz="2800"/>
              <a:t>Pode ser executado pela linha de comando ou por plug-ins instalados em IDEs de desenvolvimento, como o Eclipse e o Netbeans, que fornecem interfaces gráficas que facilitam sua utilização.</a:t>
            </a:r>
          </a:p>
          <a:p>
            <a:pPr algn="just"/>
            <a:r>
              <a:rPr lang="pt-BR" sz="2800"/>
              <a:t>Através de sua ferramenta “</a:t>
            </a:r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git config</a:t>
            </a:r>
            <a:r>
              <a:rPr lang="pt-BR" sz="2800"/>
              <a:t>” é possível configurar seu ambiente com as opções que se encaixam em seu projeto.</a:t>
            </a:r>
          </a:p>
          <a:p>
            <a:pPr algn="just"/>
            <a:endParaRPr lang="pt-BR" sz="18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342970416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Instalação...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400"/>
              <a:t>Arquivo de configuração no diretório git (ou seja, 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.git/config</a:t>
            </a:r>
            <a:r>
              <a:rPr lang="pt-BR" sz="2400"/>
              <a:t>) de qualquer repositório que você está utilizando no momento: </a:t>
            </a:r>
          </a:p>
          <a:p>
            <a:pPr lvl="1"/>
            <a:r>
              <a:rPr lang="pt-BR" sz="2000"/>
              <a:t>Específico para aquele único repositório. Cada nível sobrepõem o valor do nível anterior, sendo assim valores em .git/config sobrepõem aqueles em /etc/gitconfig</a:t>
            </a:r>
            <a:r>
              <a:rPr lang="pt-BR" sz="1800"/>
              <a:t>.</a:t>
            </a:r>
          </a:p>
          <a:p>
            <a:r>
              <a:rPr lang="pt-BR" sz="2200"/>
              <a:t>No Windows, o Git procura o arquivo .gitconfig no diretório $HOME (C:\Users para a maioria das pessoas).</a:t>
            </a:r>
          </a:p>
          <a:p>
            <a:r>
              <a:rPr lang="pt-BR" sz="2200"/>
              <a:t>Se você estiver usando a versão 2.x ou posterior do Git no Windows Vista ou superior, a pasta C:\ProgramData\Git\config.</a:t>
            </a:r>
          </a:p>
          <a:p>
            <a:r>
              <a:rPr lang="pt-BR" sz="2200"/>
              <a:t>Este arquivo de configuração só pode ser alterado pelo </a:t>
            </a:r>
            <a:r>
              <a:rPr lang="pt-BR" sz="2200">
                <a:solidFill>
                  <a:schemeClr val="tx2">
                    <a:lumMod val="60000"/>
                    <a:lumOff val="40000"/>
                  </a:schemeClr>
                </a:solidFill>
              </a:rPr>
              <a:t>git config -f &lt;file&gt;</a:t>
            </a:r>
            <a:r>
              <a:rPr lang="pt-BR" sz="2200"/>
              <a:t> como administrador.</a:t>
            </a:r>
          </a:p>
          <a:p>
            <a:endParaRPr lang="pt-BR" sz="36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206187602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/>
              <a:t>Configurar seu nome e e-mail no ambiente do Git:</a:t>
            </a:r>
          </a:p>
          <a:p>
            <a:pPr lvl="1"/>
            <a:r>
              <a:rPr lang="pt-BR" sz="2000"/>
              <a:t>$ git config --global user.name "John Doe"</a:t>
            </a:r>
          </a:p>
          <a:p>
            <a:pPr lvl="1"/>
            <a:r>
              <a:rPr lang="pt-BR" sz="2000"/>
              <a:t>$ git config --global user.email johndoe@example.com</a:t>
            </a:r>
          </a:p>
          <a:p>
            <a:pPr algn="just"/>
            <a:r>
              <a:rPr lang="pt-BR" sz="2800"/>
              <a:t>Verificar as configurações do seu Git:</a:t>
            </a:r>
          </a:p>
          <a:p>
            <a:pPr lvl="1"/>
            <a:r>
              <a:rPr lang="pt-BR" sz="2000"/>
              <a:t>$ git config --list</a:t>
            </a:r>
          </a:p>
          <a:p>
            <a:r>
              <a:rPr lang="pt-BR" sz="2800"/>
              <a:t>Ajuda</a:t>
            </a:r>
          </a:p>
          <a:p>
            <a:pPr lvl="1"/>
            <a:r>
              <a:rPr lang="pt-BR" sz="2000"/>
              <a:t>$ git help &lt;verb&gt; =&gt; $ git help config</a:t>
            </a:r>
          </a:p>
          <a:p>
            <a:pPr lvl="1"/>
            <a:endParaRPr lang="pt-BR" sz="2000"/>
          </a:p>
          <a:p>
            <a:pPr lvl="1"/>
            <a:endParaRPr lang="pt-BR" sz="20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1081400700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400"/>
              <a:t>Criar um novo repositório em uma pasta:</a:t>
            </a:r>
          </a:p>
          <a:p>
            <a:pPr lvl="1"/>
            <a:r>
              <a:rPr lang="pt-BR" sz="2400"/>
              <a:t>$ git init</a:t>
            </a:r>
          </a:p>
          <a:p>
            <a:r>
              <a:rPr lang="pt-BR" sz="2400"/>
              <a:t>Criar uma cópia de trabalho em um repositório local:</a:t>
            </a:r>
          </a:p>
          <a:p>
            <a:pPr lvl="1"/>
            <a:r>
              <a:rPr lang="pt-BR" sz="2400"/>
              <a:t>$ git clone &lt;/caminho/para/o/repositorio&gt;</a:t>
            </a:r>
          </a:p>
          <a:p>
            <a:pPr lvl="1"/>
            <a:r>
              <a:rPr lang="pt-BR" sz="2400"/>
              <a:t>$ git clone git://github.com/marcos/abc.git</a:t>
            </a:r>
          </a:p>
          <a:p>
            <a:r>
              <a:rPr lang="pt-BR" sz="2400"/>
              <a:t>Cria uma cópia de trabalho em um repositório local a partir de um repositório remoto:</a:t>
            </a:r>
          </a:p>
          <a:p>
            <a:pPr lvl="1"/>
            <a:r>
              <a:rPr lang="pt-BR" sz="2400"/>
              <a:t>$ git clone &lt;usuario@servidor:/caminho/para/o/repositorio&gt;</a:t>
            </a:r>
          </a:p>
          <a:p>
            <a:pPr lvl="1"/>
            <a:endParaRPr lang="pt-BR" sz="20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751934124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62AE6213-3C09-4377-840F-B83430615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sz="5400" i="1" dirty="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38CFB5D-DB6B-4B1C-BE34-B84F03D9C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>
                <a:solidFill>
                  <a:schemeClr val="tx2">
                    <a:lumMod val="60000"/>
                    <a:lumOff val="40000"/>
                  </a:schemeClr>
                </a:solidFill>
              </a:rPr>
              <a:t>Ciclo de vida de um arquivo no Git:</a:t>
            </a:r>
            <a:endParaRPr lang="pt-BR" sz="2000" dirty="0"/>
          </a:p>
        </p:txBody>
      </p:sp>
      <p:sp>
        <p:nvSpPr>
          <p:cNvPr id="11268" name="Espaço Reservado para Número de Slide 3">
            <a:extLst>
              <a:ext uri="{FF2B5EF4-FFF2-40B4-BE49-F238E27FC236}">
                <a16:creationId xmlns:a16="http://schemas.microsoft.com/office/drawing/2014/main" id="{DBD4A799-2E91-414D-BD71-C9A8928FD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7F43CE-B494-4432-8C5F-714304775A70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pt-BR" sz="140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D985DB-EB01-0C43-B7AF-62C77258841E}"/>
              </a:ext>
            </a:extLst>
          </p:cNvPr>
          <p:cNvSpPr txBox="1"/>
          <p:nvPr/>
        </p:nvSpPr>
        <p:spPr>
          <a:xfrm>
            <a:off x="3776700" y="6243638"/>
            <a:ext cx="20882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/>
              <a:t>Fonte: </a:t>
            </a:r>
            <a:r>
              <a:rPr lang="pt-BR" sz="900" dirty="0" err="1"/>
              <a:t>https</a:t>
            </a:r>
            <a:r>
              <a:rPr lang="pt-BR" sz="900" dirty="0"/>
              <a:t>://</a:t>
            </a:r>
            <a:r>
              <a:rPr lang="pt-BR" sz="900" dirty="0" err="1"/>
              <a:t>git-scm.com</a:t>
            </a:r>
            <a:r>
              <a:rPr lang="pt-BR" sz="900" dirty="0"/>
              <a:t>/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F1C315-10FA-B04A-9216-1043FB25A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18" y="2758043"/>
            <a:ext cx="5339352" cy="337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1940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400"/>
              <a:t>Adicionar um arquivo ao repositório:</a:t>
            </a:r>
          </a:p>
          <a:p>
            <a:pPr lvl="1"/>
            <a:r>
              <a:rPr lang="pt-BR" sz="2400"/>
              <a:t>$ git add &lt;file&gt;</a:t>
            </a:r>
          </a:p>
          <a:p>
            <a:r>
              <a:rPr lang="pt-BR" sz="2400"/>
              <a:t>Verificar o estado de seus arquivos:</a:t>
            </a:r>
          </a:p>
          <a:p>
            <a:pPr lvl="1"/>
            <a:r>
              <a:rPr lang="pt-BR" sz="2400"/>
              <a:t>$ git status</a:t>
            </a:r>
          </a:p>
          <a:p>
            <a:r>
              <a:rPr lang="pt-BR" sz="2400"/>
              <a:t>Verificar diferenças em arquivos:</a:t>
            </a:r>
          </a:p>
          <a:p>
            <a:pPr lvl="1"/>
            <a:r>
              <a:rPr lang="pt-BR" sz="2400"/>
              <a:t>$ git diff</a:t>
            </a:r>
          </a:p>
          <a:p>
            <a:r>
              <a:rPr lang="pt-BR" sz="2400"/>
              <a:t>Verificar diferenças em arquivos não selecionados:</a:t>
            </a:r>
          </a:p>
          <a:p>
            <a:pPr lvl="1"/>
            <a:r>
              <a:rPr lang="pt-BR" sz="2400"/>
              <a:t>$ git diff</a:t>
            </a:r>
          </a:p>
          <a:p>
            <a:r>
              <a:rPr lang="pt-BR" sz="2400"/>
              <a:t>Verificar diferenças em arquivos no estado 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staged</a:t>
            </a:r>
            <a:r>
              <a:rPr lang="pt-BR" sz="2400"/>
              <a:t>:</a:t>
            </a:r>
          </a:p>
          <a:p>
            <a:pPr lvl="1"/>
            <a:r>
              <a:rPr lang="pt-BR" sz="2400"/>
              <a:t>$ git diff --cached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2981873443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400"/>
              <a:t>Realizando 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commit</a:t>
            </a:r>
            <a:r>
              <a:rPr lang="pt-BR" sz="2400"/>
              <a:t> nas mudanças:</a:t>
            </a:r>
          </a:p>
          <a:p>
            <a:pPr lvl="1"/>
            <a:r>
              <a:rPr lang="pt-BR" sz="2400"/>
              <a:t>$ git commit</a:t>
            </a:r>
          </a:p>
          <a:p>
            <a:r>
              <a:rPr lang="pt-BR" sz="2400"/>
              <a:t>Inserindo uma mensagem no 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commit</a:t>
            </a:r>
            <a:r>
              <a:rPr lang="pt-BR" sz="2400"/>
              <a:t>:</a:t>
            </a:r>
          </a:p>
          <a:p>
            <a:pPr lvl="1"/>
            <a:r>
              <a:rPr lang="pt-BR" sz="2400"/>
              <a:t>$ git commit -m “Meu commit”</a:t>
            </a:r>
          </a:p>
          <a:p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474255584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8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Branching</a:t>
            </a:r>
            <a:r>
              <a:rPr lang="pt-BR" sz="2800" dirty="0"/>
              <a:t> (ramificação):</a:t>
            </a:r>
          </a:p>
          <a:p>
            <a:pPr lvl="1"/>
            <a:r>
              <a:rPr lang="pt-BR" sz="2400" dirty="0"/>
              <a:t>Criar um </a:t>
            </a:r>
            <a:r>
              <a:rPr lang="pt-B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branch</a:t>
            </a:r>
            <a:r>
              <a:rPr lang="pt-BR" sz="2400" dirty="0"/>
              <a:t> significa dizer que você vai divergir da linha principal de desenvolvimento e continuar a trabalhar sem bagunçar essa linha principal.</a:t>
            </a:r>
          </a:p>
          <a:p>
            <a:pPr lvl="1"/>
            <a:r>
              <a:rPr lang="pt-BR" sz="2400" dirty="0"/>
              <a:t>Um </a:t>
            </a:r>
            <a:r>
              <a:rPr lang="pt-B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branch</a:t>
            </a:r>
            <a:r>
              <a:rPr lang="pt-BR" sz="2400" dirty="0"/>
              <a:t> no </a:t>
            </a:r>
            <a:r>
              <a:rPr lang="pt-BR" sz="2400" dirty="0" err="1"/>
              <a:t>Git</a:t>
            </a:r>
            <a:r>
              <a:rPr lang="pt-BR" sz="2400" dirty="0"/>
              <a:t> é simplesmente um leve ponteiro móvel para um </a:t>
            </a:r>
            <a:r>
              <a:rPr lang="pt-B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commit</a:t>
            </a:r>
            <a:r>
              <a:rPr lang="pt-BR" sz="2400" dirty="0"/>
              <a:t>. O nome do </a:t>
            </a:r>
            <a:r>
              <a:rPr lang="pt-B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branch</a:t>
            </a:r>
            <a:r>
              <a:rPr lang="pt-BR" sz="2400" dirty="0"/>
              <a:t> padrão no </a:t>
            </a:r>
            <a:r>
              <a:rPr lang="pt-BR" sz="2400" dirty="0" err="1"/>
              <a:t>Git</a:t>
            </a:r>
            <a:r>
              <a:rPr lang="pt-BR" sz="2400" dirty="0"/>
              <a:t> é </a:t>
            </a:r>
            <a:r>
              <a:rPr lang="pt-BR" sz="24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main</a:t>
            </a:r>
            <a:r>
              <a:rPr lang="pt-BR" sz="2400" dirty="0"/>
              <a:t>.</a:t>
            </a:r>
            <a:br>
              <a:rPr lang="pt-BR" sz="2400" dirty="0"/>
            </a:br>
            <a:endParaRPr lang="pt-BR" sz="2000" dirty="0"/>
          </a:p>
          <a:p>
            <a:pPr lvl="1"/>
            <a:endParaRPr lang="pt-BR" sz="2400" dirty="0"/>
          </a:p>
          <a:p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677844221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7A6C67A7-3FE4-4009-9977-3FA6FD77D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 err="1"/>
              <a:t>Git</a:t>
            </a:r>
            <a:br>
              <a:rPr lang="pt-BR" altLang="pt-BR" dirty="0"/>
            </a:br>
            <a:r>
              <a:rPr lang="pt-BR" altLang="pt-BR" sz="3600" i="1" dirty="0"/>
              <a:t>Principais comandos...</a:t>
            </a:r>
            <a:endParaRPr lang="pt-BR" altLang="pt-BR" i="1" dirty="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7B9177A-6E8D-4F15-8793-B22B67D909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r>
              <a:rPr lang="pt-BR" sz="2400"/>
              <a:t>Mudar para um 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branch</a:t>
            </a:r>
            <a:r>
              <a:rPr lang="pt-BR" sz="2400"/>
              <a:t> existente:</a:t>
            </a:r>
          </a:p>
          <a:p>
            <a:pPr lvl="1"/>
            <a:r>
              <a:rPr lang="pt-BR" sz="2400"/>
              <a:t>$ git checkout</a:t>
            </a:r>
          </a:p>
          <a:p>
            <a:pPr lvl="1"/>
            <a:r>
              <a:rPr lang="pt-BR" sz="2400"/>
              <a:t>$ git checkout versao01</a:t>
            </a:r>
          </a:p>
          <a:p>
            <a:r>
              <a:rPr lang="pt-BR" sz="2400"/>
              <a:t>Juntando ou atualizando dois </a:t>
            </a:r>
            <a:r>
              <a:rPr lang="pt-BR" sz="2400">
                <a:solidFill>
                  <a:schemeClr val="tx2">
                    <a:lumMod val="60000"/>
                    <a:lumOff val="40000"/>
                  </a:schemeClr>
                </a:solidFill>
              </a:rPr>
              <a:t>branchs</a:t>
            </a:r>
            <a:r>
              <a:rPr lang="pt-BR" sz="2400"/>
              <a:t>:</a:t>
            </a:r>
          </a:p>
          <a:p>
            <a:pPr lvl="1"/>
            <a:r>
              <a:rPr lang="pt-BR" sz="2400"/>
              <a:t>$ git merge &lt;branch-a-juntar&gt;</a:t>
            </a:r>
            <a:endParaRPr lang="pt-BR" sz="2400" dirty="0"/>
          </a:p>
        </p:txBody>
      </p:sp>
      <p:sp>
        <p:nvSpPr>
          <p:cNvPr id="10244" name="Espaço Reservado para Número de Slide 5">
            <a:extLst>
              <a:ext uri="{FF2B5EF4-FFF2-40B4-BE49-F238E27FC236}">
                <a16:creationId xmlns:a16="http://schemas.microsoft.com/office/drawing/2014/main" id="{6A6835E0-3503-4BE5-8980-DF36218BE7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005238-A0B0-42BB-80DE-F6DA69338883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3894433308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8D1324D3-E32F-4566-B58B-22472F4E0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 dirty="0"/>
              <a:t>Versionamento </a:t>
            </a:r>
            <a:r>
              <a:rPr lang="pt-BR" altLang="pt-BR" sz="3600" i="1" dirty="0"/>
              <a:t>Praticando...</a:t>
            </a: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FE8DA586-5F38-4333-A1DD-C2B8C30DCA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marL="514350" indent="-514350" eaLnBrk="1" hangingPunct="1">
              <a:buFont typeface="+mj-lt"/>
              <a:buAutoNum type="arabicPeriod" startAt="2"/>
              <a:defRPr/>
            </a:pPr>
            <a:r>
              <a:rPr lang="pt-BR" sz="2800"/>
              <a:t>Definir 04 grupos de alunos. Cada grupo deverá criar um projeto CRUD em PHP, controlá-lo através da ferramenta Git e armazená-lo no GitHub.</a:t>
            </a:r>
          </a:p>
          <a:p>
            <a:pPr lvl="1" eaLnBrk="1" hangingPunct="1">
              <a:defRPr/>
            </a:pPr>
            <a:r>
              <a:rPr lang="pt-BR" sz="2400"/>
              <a:t>Cada desenvolvedor do grupo deverá criar uma parte do sistema e salvar as alterações no repositório remoto.</a:t>
            </a:r>
          </a:p>
          <a:p>
            <a:pPr lvl="1" eaLnBrk="1" hangingPunct="1">
              <a:defRPr/>
            </a:pPr>
            <a:r>
              <a:rPr lang="pt-BR" sz="2400"/>
              <a:t>Utilizar um editor que permita se conectar ao GitHub para permitir o acesso e o controle de versão do projeto.</a:t>
            </a:r>
          </a:p>
          <a:p>
            <a:pPr marL="514350" indent="-514350" eaLnBrk="1" hangingPunct="1">
              <a:buFont typeface="Wingdings" panose="05000000000000000000" pitchFamily="2" charset="2"/>
              <a:buNone/>
              <a:defRPr/>
            </a:pPr>
            <a:endParaRPr lang="pt-BR" sz="2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388" name="Espaço Reservado para Número de Slide 3">
            <a:extLst>
              <a:ext uri="{FF2B5EF4-FFF2-40B4-BE49-F238E27FC236}">
                <a16:creationId xmlns:a16="http://schemas.microsoft.com/office/drawing/2014/main" id="{30690A31-50E6-48DE-998E-D50731BA93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042EB1-AFB6-4461-A586-DDF6DA5D4D1D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pt-BR" sz="1400"/>
          </a:p>
        </p:txBody>
      </p:sp>
    </p:spTree>
    <p:extLst>
      <p:ext uri="{BB962C8B-B14F-4D97-AF65-F5344CB8AC3E}">
        <p14:creationId xmlns:p14="http://schemas.microsoft.com/office/powerpoint/2010/main" val="852850457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12DD98C9-132B-4959-9843-4F04A676DC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lIns="92075" tIns="46037" rIns="92075" bIns="46037" anchor="ctr"/>
          <a:lstStyle/>
          <a:p>
            <a:pPr eaLnBrk="1" hangingPunct="1"/>
            <a:r>
              <a:rPr lang="pt-BR" altLang="pt-BR"/>
              <a:t>Resumo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FDE8580-1AB6-43BD-92E0-6667FDB621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182562" tIns="46037" rIns="182562" bIns="46037"/>
          <a:lstStyle/>
          <a:p>
            <a:pPr eaLnBrk="1" hangingPunct="1"/>
            <a:r>
              <a:rPr lang="pt-BR" altLang="pt-BR"/>
              <a:t>O que é Versionamento.</a:t>
            </a:r>
          </a:p>
          <a:p>
            <a:pPr eaLnBrk="1" hangingPunct="1"/>
            <a:r>
              <a:rPr lang="pt-BR" altLang="pt-BR"/>
              <a:t>O que é Controle de Versão.</a:t>
            </a:r>
          </a:p>
          <a:p>
            <a:pPr eaLnBrk="1" hangingPunct="1"/>
            <a:r>
              <a:rPr lang="pt-BR" altLang="pt-BR"/>
              <a:t>Conhecendo o Git.</a:t>
            </a:r>
          </a:p>
          <a:p>
            <a:pPr eaLnBrk="1" hangingPunct="1"/>
            <a:r>
              <a:rPr lang="pt-BR" altLang="pt-BR"/>
              <a:t>Conhecendo o Github. </a:t>
            </a:r>
          </a:p>
          <a:p>
            <a:pPr eaLnBrk="1" hangingPunct="1"/>
            <a:r>
              <a:rPr lang="pt-BR" altLang="pt-BR"/>
              <a:t>Exercícios.</a:t>
            </a:r>
          </a:p>
        </p:txBody>
      </p:sp>
      <p:sp>
        <p:nvSpPr>
          <p:cNvPr id="36868" name="Espaço Reservado para Número de Slide 5">
            <a:extLst>
              <a:ext uri="{FF2B5EF4-FFF2-40B4-BE49-F238E27FC236}">
                <a16:creationId xmlns:a16="http://schemas.microsoft.com/office/drawing/2014/main" id="{D59402A5-3947-4A86-A3F6-867B465ADF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778A0A-6D07-425C-BB64-8261DEC7E98F}" type="slidenum">
              <a:rPr lang="en-US" altLang="pt-BR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pt-BR" sz="140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Staff training presentation">
  <a:themeElements>
    <a:clrScheme name="Blends 5">
      <a:dk1>
        <a:srgbClr val="000000"/>
      </a:dk1>
      <a:lt1>
        <a:srgbClr val="FFFFFF"/>
      </a:lt1>
      <a:dk2>
        <a:srgbClr val="000066"/>
      </a:dk2>
      <a:lt2>
        <a:srgbClr val="333333"/>
      </a:lt2>
      <a:accent1>
        <a:srgbClr val="C4709A"/>
      </a:accent1>
      <a:accent2>
        <a:srgbClr val="4B4EB5"/>
      </a:accent2>
      <a:accent3>
        <a:srgbClr val="FFFFFF"/>
      </a:accent3>
      <a:accent4>
        <a:srgbClr val="000000"/>
      </a:accent4>
      <a:accent5>
        <a:srgbClr val="DEBBCA"/>
      </a:accent5>
      <a:accent6>
        <a:srgbClr val="4346A4"/>
      </a:accent6>
      <a:hlink>
        <a:srgbClr val="C481CF"/>
      </a:hlink>
      <a:folHlink>
        <a:srgbClr val="76B749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D93E1931-CE25-485F-898E-8052EE1FCCE2}"/>
</file>

<file path=customXml/itemProps2.xml><?xml version="1.0" encoding="utf-8"?>
<ds:datastoreItem xmlns:ds="http://schemas.openxmlformats.org/officeDocument/2006/customXml" ds:itemID="{6745702C-83CE-4FF2-AADA-AE798EDB3215}"/>
</file>

<file path=customXml/itemProps3.xml><?xml version="1.0" encoding="utf-8"?>
<ds:datastoreItem xmlns:ds="http://schemas.openxmlformats.org/officeDocument/2006/customXml" ds:itemID="{BCEB528D-BF51-4B0C-819E-10DE9D7C2AA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1500</TotalTime>
  <Words>1906</Words>
  <Application>Microsoft Office PowerPoint</Application>
  <PresentationFormat>Apresentação na tela (4:3)</PresentationFormat>
  <Paragraphs>210</Paragraphs>
  <Slides>32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Tahoma</vt:lpstr>
      <vt:lpstr>Wingdings</vt:lpstr>
      <vt:lpstr>1_Staff training presentation</vt:lpstr>
      <vt:lpstr>Versionamento e Git</vt:lpstr>
      <vt:lpstr>Versionamento</vt:lpstr>
      <vt:lpstr>Visão geral </vt:lpstr>
      <vt:lpstr>Versionamento O que é...</vt:lpstr>
      <vt:lpstr>Controle de Versão  O que é...</vt:lpstr>
      <vt:lpstr>Controle de Versão  O que é...</vt:lpstr>
      <vt:lpstr>Controle de Versão Sistemas...</vt:lpstr>
      <vt:lpstr>Controle de Versão Sistemas...</vt:lpstr>
      <vt:lpstr>Controle de Versão– Sistemas...</vt:lpstr>
      <vt:lpstr>GitHub O que é...</vt:lpstr>
      <vt:lpstr>Versionamento Praticando...</vt:lpstr>
      <vt:lpstr>Git O que é...</vt:lpstr>
      <vt:lpstr>Git O que é...</vt:lpstr>
      <vt:lpstr>Git O que é...</vt:lpstr>
      <vt:lpstr>Git Como trabalha...</vt:lpstr>
      <vt:lpstr>Git Como trabalha...</vt:lpstr>
      <vt:lpstr>Git  Como trabalha...</vt:lpstr>
      <vt:lpstr>Git  Como trabalha...</vt:lpstr>
      <vt:lpstr>Git Como trabalha...</vt:lpstr>
      <vt:lpstr>Git Como trabalha...</vt:lpstr>
      <vt:lpstr>Git Como trabalha...</vt:lpstr>
      <vt:lpstr>Git Instalação...</vt:lpstr>
      <vt:lpstr>Git Instalação...</vt:lpstr>
      <vt:lpstr>Git Principais comandos...</vt:lpstr>
      <vt:lpstr>Git Principais comandos...</vt:lpstr>
      <vt:lpstr>Git Principais comandos...</vt:lpstr>
      <vt:lpstr>Git Principais comandos...</vt:lpstr>
      <vt:lpstr>Git Principais comandos...</vt:lpstr>
      <vt:lpstr>Git Principais comandos...</vt:lpstr>
      <vt:lpstr>Git Principais comandos...</vt:lpstr>
      <vt:lpstr>Versionamento Praticando...</vt:lpstr>
      <vt:lpstr>Resumo</vt:lpstr>
    </vt:vector>
  </TitlesOfParts>
  <Company>MSF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Treinamento da equipe</dc:title>
  <dc:creator>Marcos S. Ferreira</dc:creator>
  <cp:lastModifiedBy>MARCOS DA SILVA FERREIRA</cp:lastModifiedBy>
  <cp:revision>181</cp:revision>
  <dcterms:created xsi:type="dcterms:W3CDTF">2012-05-20T20:59:14Z</dcterms:created>
  <dcterms:modified xsi:type="dcterms:W3CDTF">2025-12-05T00:10:01Z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TC010130221046</vt:lpwstr>
  </property>
  <property fmtid="{D5CDD505-2E9C-101B-9397-08002B2CF9AE}" pid="3" name="ContentTypeId">
    <vt:lpwstr>0x010100CD51460BBB3BD64989C0AF0085EB7E4E</vt:lpwstr>
  </property>
</Properties>
</file>